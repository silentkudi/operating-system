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72" r:id="rId5"/>
    <p:sldId id="261" r:id="rId6"/>
    <p:sldId id="268" r:id="rId7"/>
    <p:sldId id="270" r:id="rId8"/>
    <p:sldId id="273" r:id="rId9"/>
    <p:sldId id="274" r:id="rId10"/>
    <p:sldId id="275" r:id="rId11"/>
    <p:sldId id="276" r:id="rId12"/>
    <p:sldId id="277" r:id="rId13"/>
    <p:sldId id="280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2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cover dir="l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 descr="LibreOffice-6.2.0-Crack-Key-2019-Latest-Version-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09600"/>
            <a:ext cx="7620000" cy="37337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600" y="4876801"/>
            <a:ext cx="3429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>
                <a:latin typeface="Georgia" pitchFamily="18" charset="0"/>
              </a:rPr>
              <a:t>SUBMITTED TO :-</a:t>
            </a:r>
          </a:p>
          <a:p>
            <a:r>
              <a:rPr lang="en-US" sz="2400" b="1" i="1" dirty="0" smtClean="0">
                <a:latin typeface="Georgia" pitchFamily="18" charset="0"/>
              </a:rPr>
              <a:t>  </a:t>
            </a:r>
            <a:r>
              <a:rPr lang="en-US" sz="2400" b="1" i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Georgia" pitchFamily="18" charset="0"/>
              </a:rPr>
              <a:t>APURVA  MAM</a:t>
            </a:r>
            <a:endParaRPr lang="en-US" sz="2400" b="1" i="1" dirty="0">
              <a:solidFill>
                <a:schemeClr val="accent3">
                  <a:lumMod val="60000"/>
                  <a:lumOff val="40000"/>
                </a:schemeClr>
              </a:solidFill>
              <a:latin typeface="Georgia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62600" y="4876800"/>
            <a:ext cx="297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>
                <a:latin typeface="Georgia" pitchFamily="18" charset="0"/>
              </a:rPr>
              <a:t>SUBMITTED BY:- </a:t>
            </a:r>
            <a:r>
              <a:rPr lang="en-US" sz="2400" b="1" i="1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Georgia" pitchFamily="18" charset="0"/>
              </a:rPr>
              <a:t>SHIVANI  GUPTA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5715000"/>
            <a:ext cx="8153400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 anchor="b">
            <a:spAutoFit/>
          </a:bodyPr>
          <a:lstStyle/>
          <a:p>
            <a:pPr algn="ctr"/>
            <a:r>
              <a:rPr lang="en-US" sz="3200" b="1" i="1" dirty="0" smtClean="0">
                <a:latin typeface="Georgia" pitchFamily="18" charset="0"/>
              </a:rPr>
              <a:t>DEPARTMENT OF COMPUTER SCIENCE</a:t>
            </a:r>
            <a:endParaRPr lang="en-US" sz="3200" b="1" i="1" dirty="0">
              <a:latin typeface="Georgia" pitchFamily="18" charset="0"/>
            </a:endParaRP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838200" y="609600"/>
            <a:ext cx="6781800" cy="646331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600" b="1" i="1" dirty="0" smtClean="0">
                <a:solidFill>
                  <a:schemeClr val="bg1"/>
                </a:solidFill>
                <a:latin typeface="Georgia" pitchFamily="18" charset="0"/>
              </a:rPr>
              <a:t>CONTENT:-</a:t>
            </a:r>
            <a:endParaRPr lang="en-US" sz="3600" b="1" i="1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66800" y="1981200"/>
            <a:ext cx="6324600" cy="304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3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3">
                  <a:lumMod val="60000"/>
                  <a:lumOff val="4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Font typeface="Arial" pitchFamily="34" charset="0"/>
              <a:buChar char="•"/>
            </a:pPr>
            <a:r>
              <a:rPr lang="en-US" sz="2800" i="1" dirty="0" smtClean="0">
                <a:solidFill>
                  <a:schemeClr val="tx1"/>
                </a:solidFill>
                <a:latin typeface="Georgia" pitchFamily="18" charset="0"/>
              </a:rPr>
              <a:t>Introduction</a:t>
            </a:r>
          </a:p>
          <a:p>
            <a:pPr>
              <a:buFont typeface="Arial" pitchFamily="34" charset="0"/>
              <a:buChar char="•"/>
            </a:pPr>
            <a:r>
              <a:rPr lang="en-US" sz="2800" i="1" dirty="0" smtClean="0">
                <a:solidFill>
                  <a:schemeClr val="tx1"/>
                </a:solidFill>
                <a:latin typeface="Georgia" pitchFamily="18" charset="0"/>
              </a:rPr>
              <a:t>Component of libreoffice:-Writer, Calc, impress,  draw, base, math</a:t>
            </a:r>
          </a:p>
          <a:p>
            <a:pPr>
              <a:buFont typeface="Arial" pitchFamily="34" charset="0"/>
              <a:buChar char="•"/>
            </a:pPr>
            <a:r>
              <a:rPr lang="en-US" sz="2800" i="1" dirty="0" smtClean="0">
                <a:solidFill>
                  <a:schemeClr val="tx1"/>
                </a:solidFill>
                <a:latin typeface="Georgia" pitchFamily="18" charset="0"/>
              </a:rPr>
              <a:t>Advantage of libreoffice</a:t>
            </a:r>
          </a:p>
          <a:p>
            <a:pPr>
              <a:buFont typeface="Arial" pitchFamily="34" charset="0"/>
              <a:buChar char="•"/>
            </a:pPr>
            <a:r>
              <a:rPr lang="en-US" sz="2800" i="1" dirty="0" smtClean="0">
                <a:solidFill>
                  <a:schemeClr val="tx1"/>
                </a:solidFill>
                <a:latin typeface="Georgia" pitchFamily="18" charset="0"/>
              </a:rPr>
              <a:t>Reference </a:t>
            </a:r>
          </a:p>
        </p:txBody>
      </p:sp>
    </p:spTree>
  </p:cSld>
  <p:clrMapOvr>
    <a:masterClrMapping/>
  </p:clrMapOvr>
  <p:transition spd="med">
    <p:checke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Oval 3"/>
          <p:cNvSpPr/>
          <p:nvPr/>
        </p:nvSpPr>
        <p:spPr>
          <a:xfrm>
            <a:off x="838200" y="457200"/>
            <a:ext cx="7467600" cy="1371600"/>
          </a:xfrm>
          <a:prstGeom prst="ellipse">
            <a:avLst/>
          </a:prstGeom>
          <a:blipFill>
            <a:blip r:embed="rId3"/>
            <a:tile tx="0" ty="0" sx="100000" sy="100000" flip="none" algn="tl"/>
          </a:blipFill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i="1" dirty="0" smtClean="0">
                <a:solidFill>
                  <a:schemeClr val="bg1"/>
                </a:solidFill>
                <a:latin typeface="Georgia" pitchFamily="18" charset="0"/>
              </a:rPr>
              <a:t>INTRODUCTION</a:t>
            </a:r>
            <a:endParaRPr lang="en-US" sz="3600" b="1" i="1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3000" y="2057400"/>
            <a:ext cx="6858000" cy="18288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 smtClean="0">
                <a:solidFill>
                  <a:schemeClr val="tx1"/>
                </a:solidFill>
                <a:latin typeface="Georgia" pitchFamily="18" charset="0"/>
              </a:rPr>
              <a:t>Libreoffice is a free and open source office suite, developed by the </a:t>
            </a:r>
            <a:r>
              <a:rPr lang="en-US" sz="2800" b="1" i="1" dirty="0" smtClean="0">
                <a:solidFill>
                  <a:schemeClr val="tx1"/>
                </a:solidFill>
                <a:latin typeface="Georgia" pitchFamily="18" charset="0"/>
              </a:rPr>
              <a:t>DOCUMENT FOUNDITION.</a:t>
            </a:r>
            <a:r>
              <a:rPr lang="en-US" sz="2800" i="1" dirty="0" smtClean="0">
                <a:solidFill>
                  <a:schemeClr val="tx1"/>
                </a:solidFill>
                <a:latin typeface="Georgia" pitchFamily="18" charset="0"/>
              </a:rPr>
              <a:t> </a:t>
            </a:r>
            <a:endParaRPr lang="en-US" sz="2800" i="1" dirty="0">
              <a:solidFill>
                <a:schemeClr val="tx1"/>
              </a:solidFill>
              <a:latin typeface="Georgia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219200" y="3886200"/>
            <a:ext cx="6705600" cy="17526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i="1" dirty="0" smtClean="0">
                <a:solidFill>
                  <a:schemeClr val="tx1"/>
                </a:solidFill>
                <a:latin typeface="Georgia" pitchFamily="18" charset="0"/>
              </a:rPr>
              <a:t>Forked </a:t>
            </a:r>
            <a:r>
              <a:rPr lang="en-US" sz="2800" b="1" dirty="0" smtClean="0">
                <a:solidFill>
                  <a:schemeClr val="tx1"/>
                </a:solidFill>
                <a:latin typeface="Georgia" pitchFamily="18" charset="0"/>
              </a:rPr>
              <a:t>by:- </a:t>
            </a:r>
            <a:r>
              <a:rPr lang="en-US" sz="2800" i="1" dirty="0" err="1" smtClean="0">
                <a:solidFill>
                  <a:schemeClr val="tx1"/>
                </a:solidFill>
                <a:latin typeface="Georgia" pitchFamily="18" charset="0"/>
              </a:rPr>
              <a:t>Open.Office.Org</a:t>
            </a:r>
            <a:r>
              <a:rPr lang="en-US" sz="2800" i="1" dirty="0" smtClean="0">
                <a:solidFill>
                  <a:schemeClr val="tx1"/>
                </a:solidFill>
                <a:latin typeface="Georgia" pitchFamily="18" charset="0"/>
              </a:rPr>
              <a:t>.</a:t>
            </a:r>
          </a:p>
          <a:p>
            <a:pPr algn="ctr"/>
            <a:r>
              <a:rPr lang="en-US" sz="2800" b="1" dirty="0" smtClean="0">
                <a:solidFill>
                  <a:schemeClr val="tx1"/>
                </a:solidFill>
                <a:latin typeface="Georgia" pitchFamily="18" charset="0"/>
              </a:rPr>
              <a:t>Uses</a:t>
            </a:r>
            <a:r>
              <a:rPr lang="en-US" sz="2800" b="1" i="1" dirty="0" smtClean="0">
                <a:solidFill>
                  <a:schemeClr val="tx1"/>
                </a:solidFill>
                <a:latin typeface="Georgia" pitchFamily="18" charset="0"/>
              </a:rPr>
              <a:t>:-</a:t>
            </a:r>
            <a:r>
              <a:rPr lang="en-US" sz="2800" i="1" dirty="0" smtClean="0">
                <a:solidFill>
                  <a:schemeClr val="tx1"/>
                </a:solidFill>
                <a:latin typeface="Georgia" pitchFamily="18" charset="0"/>
              </a:rPr>
              <a:t>International ISO/IEC Standard Open Document File Format.</a:t>
            </a:r>
            <a:endParaRPr lang="en-US" sz="2800" i="1" dirty="0">
              <a:solidFill>
                <a:schemeClr val="tx1"/>
              </a:solidFill>
              <a:latin typeface="Georgia" pitchFamily="18" charset="0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Oval 3"/>
          <p:cNvSpPr/>
          <p:nvPr/>
        </p:nvSpPr>
        <p:spPr>
          <a:xfrm>
            <a:off x="838200" y="457200"/>
            <a:ext cx="7620000" cy="1447800"/>
          </a:xfrm>
          <a:prstGeom prst="ellipse">
            <a:avLst/>
          </a:prstGeom>
          <a:blipFill>
            <a:blip r:embed="rId3"/>
            <a:tile tx="0" ty="0" sx="100000" sy="100000" flip="none" algn="tl"/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i="1" dirty="0" smtClean="0">
                <a:solidFill>
                  <a:schemeClr val="bg1"/>
                </a:solidFill>
                <a:latin typeface="Georgia" pitchFamily="18" charset="0"/>
              </a:rPr>
              <a:t>LIBREOFFICE</a:t>
            </a:r>
            <a:endParaRPr lang="en-US" sz="3600" b="1" i="1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6629400" cy="9144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 smtClean="0">
                <a:solidFill>
                  <a:schemeClr val="tx1"/>
                </a:solidFill>
                <a:latin typeface="Georgia" pitchFamily="18" charset="0"/>
              </a:rPr>
              <a:t>Available Over 115 language</a:t>
            </a:r>
            <a:endParaRPr lang="en-US" sz="2800" i="1" dirty="0">
              <a:solidFill>
                <a:schemeClr val="tx1"/>
              </a:solidFill>
              <a:latin typeface="Georgia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71600" y="3200400"/>
            <a:ext cx="6629400" cy="9906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 smtClean="0">
                <a:solidFill>
                  <a:schemeClr val="tx1"/>
                </a:solidFill>
                <a:latin typeface="Georgia" pitchFamily="18" charset="0"/>
              </a:rPr>
              <a:t>Open document file format supported by Open source office suites</a:t>
            </a:r>
            <a:endParaRPr lang="en-US" sz="2800" i="1" dirty="0">
              <a:solidFill>
                <a:schemeClr val="tx1"/>
              </a:solidFill>
              <a:latin typeface="Georgia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371600" y="4191000"/>
            <a:ext cx="6629400" cy="9906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 smtClean="0">
                <a:solidFill>
                  <a:schemeClr val="tx1"/>
                </a:solidFill>
                <a:latin typeface="Georgia" pitchFamily="18" charset="0"/>
              </a:rPr>
              <a:t>Platforms supported:-Microsoft windows, Linux, Mac os</a:t>
            </a:r>
            <a:r>
              <a:rPr lang="en-US" sz="2800" i="1" dirty="0" smtClean="0">
                <a:solidFill>
                  <a:schemeClr val="tx1"/>
                </a:solidFill>
              </a:rPr>
              <a:t>.</a:t>
            </a:r>
            <a:endParaRPr lang="en-US" sz="2800" i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>
    <p:wheel spokes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Hexagon 3"/>
          <p:cNvSpPr/>
          <p:nvPr/>
        </p:nvSpPr>
        <p:spPr>
          <a:xfrm>
            <a:off x="914400" y="609600"/>
            <a:ext cx="7391400" cy="1371600"/>
          </a:xfrm>
          <a:prstGeom prst="hexagon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27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i="1" dirty="0" smtClean="0">
                <a:solidFill>
                  <a:schemeClr val="bg1"/>
                </a:solidFill>
                <a:latin typeface="Georgia" pitchFamily="18" charset="0"/>
              </a:rPr>
              <a:t>COMPONENT OF LIBREOFFICE </a:t>
            </a:r>
            <a:endParaRPr lang="en-US" sz="3600" b="1" i="1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648200" y="2057400"/>
            <a:ext cx="2971800" cy="990600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 smtClean="0">
                <a:latin typeface="Georgia" pitchFamily="18" charset="0"/>
              </a:rPr>
              <a:t>Spreadsheet</a:t>
            </a:r>
          </a:p>
          <a:p>
            <a:pPr algn="ctr"/>
            <a:r>
              <a:rPr lang="en-US" sz="2400" i="1" dirty="0" smtClean="0">
                <a:latin typeface="Georgia" pitchFamily="18" charset="0"/>
              </a:rPr>
              <a:t>(calc)</a:t>
            </a:r>
            <a:endParaRPr lang="en-US" sz="2400" i="1" dirty="0">
              <a:latin typeface="Georgia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600200" y="3200400"/>
            <a:ext cx="2895600" cy="990600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 smtClean="0">
                <a:latin typeface="Georgia" pitchFamily="18" charset="0"/>
              </a:rPr>
              <a:t>Slideshows</a:t>
            </a:r>
          </a:p>
          <a:p>
            <a:pPr algn="ctr"/>
            <a:r>
              <a:rPr lang="en-US" sz="2400" i="1" dirty="0" smtClean="0">
                <a:latin typeface="Georgia" pitchFamily="18" charset="0"/>
              </a:rPr>
              <a:t>(impress)</a:t>
            </a:r>
            <a:endParaRPr lang="en-US" sz="2400" i="1" dirty="0">
              <a:latin typeface="Georgia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600200" y="2057400"/>
            <a:ext cx="2895600" cy="990600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 smtClean="0">
                <a:ln>
                  <a:solidFill>
                    <a:schemeClr val="tx2"/>
                  </a:solidFill>
                </a:ln>
                <a:solidFill>
                  <a:schemeClr val="tx2">
                    <a:lumMod val="75000"/>
                  </a:schemeClr>
                </a:solidFill>
                <a:latin typeface="Georgia" pitchFamily="18" charset="0"/>
              </a:rPr>
              <a:t>Word processor</a:t>
            </a:r>
          </a:p>
          <a:p>
            <a:pPr algn="ctr"/>
            <a:r>
              <a:rPr lang="en-US" sz="2400" i="1" dirty="0" smtClean="0">
                <a:ln>
                  <a:solidFill>
                    <a:schemeClr val="tx2"/>
                  </a:solidFill>
                </a:ln>
                <a:solidFill>
                  <a:schemeClr val="tx2">
                    <a:lumMod val="75000"/>
                  </a:schemeClr>
                </a:solidFill>
                <a:latin typeface="Georgia" pitchFamily="18" charset="0"/>
              </a:rPr>
              <a:t>(writer)</a:t>
            </a:r>
            <a:endParaRPr lang="en-US" sz="2400" i="1" dirty="0">
              <a:ln>
                <a:solidFill>
                  <a:schemeClr val="tx2"/>
                </a:solidFill>
              </a:ln>
              <a:solidFill>
                <a:schemeClr val="tx2">
                  <a:lumMod val="75000"/>
                </a:schemeClr>
              </a:solidFill>
              <a:latin typeface="Georgia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648200" y="3200400"/>
            <a:ext cx="2971800" cy="990600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 smtClean="0">
                <a:ln>
                  <a:solidFill>
                    <a:schemeClr val="tx2"/>
                  </a:solidFill>
                </a:ln>
                <a:solidFill>
                  <a:schemeClr val="tx2">
                    <a:lumMod val="75000"/>
                  </a:schemeClr>
                </a:solidFill>
                <a:latin typeface="Georgia" pitchFamily="18" charset="0"/>
              </a:rPr>
              <a:t>Drawing</a:t>
            </a:r>
          </a:p>
          <a:p>
            <a:pPr algn="ctr"/>
            <a:r>
              <a:rPr lang="en-US" sz="2400" i="1" dirty="0" smtClean="0">
                <a:ln>
                  <a:solidFill>
                    <a:schemeClr val="tx2"/>
                  </a:solidFill>
                </a:ln>
                <a:solidFill>
                  <a:schemeClr val="tx2">
                    <a:lumMod val="75000"/>
                  </a:schemeClr>
                </a:solidFill>
                <a:latin typeface="Georgia" pitchFamily="18" charset="0"/>
              </a:rPr>
              <a:t>(draw)</a:t>
            </a:r>
            <a:endParaRPr lang="en-US" sz="2400" i="1" dirty="0">
              <a:ln>
                <a:solidFill>
                  <a:schemeClr val="tx2"/>
                </a:solidFill>
              </a:ln>
              <a:solidFill>
                <a:schemeClr val="tx2">
                  <a:lumMod val="75000"/>
                </a:schemeClr>
              </a:solidFill>
              <a:latin typeface="Georgia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600200" y="4343400"/>
            <a:ext cx="2895600" cy="990600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 smtClean="0">
                <a:ln>
                  <a:solidFill>
                    <a:schemeClr val="tx2"/>
                  </a:solidFill>
                </a:ln>
                <a:solidFill>
                  <a:schemeClr val="tx2">
                    <a:lumMod val="75000"/>
                  </a:schemeClr>
                </a:solidFill>
                <a:latin typeface="Georgia" pitchFamily="18" charset="0"/>
              </a:rPr>
              <a:t>Database</a:t>
            </a:r>
          </a:p>
          <a:p>
            <a:pPr algn="ctr"/>
            <a:r>
              <a:rPr lang="en-US" sz="2400" i="1" dirty="0" smtClean="0">
                <a:ln>
                  <a:solidFill>
                    <a:schemeClr val="tx2"/>
                  </a:solidFill>
                </a:ln>
                <a:solidFill>
                  <a:schemeClr val="tx2">
                    <a:lumMod val="75000"/>
                  </a:schemeClr>
                </a:solidFill>
                <a:latin typeface="Georgia" pitchFamily="18" charset="0"/>
              </a:rPr>
              <a:t>(base)</a:t>
            </a:r>
            <a:endParaRPr lang="en-US" sz="2400" i="1" dirty="0">
              <a:ln>
                <a:solidFill>
                  <a:schemeClr val="tx2"/>
                </a:solidFill>
              </a:ln>
              <a:solidFill>
                <a:schemeClr val="tx2">
                  <a:lumMod val="75000"/>
                </a:schemeClr>
              </a:solidFill>
              <a:latin typeface="Georgia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648200" y="4343400"/>
            <a:ext cx="2971800" cy="990600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 smtClean="0">
                <a:latin typeface="Georgia" pitchFamily="18" charset="0"/>
              </a:rPr>
              <a:t>Math formula</a:t>
            </a:r>
          </a:p>
          <a:p>
            <a:pPr algn="ctr"/>
            <a:r>
              <a:rPr lang="en-US" sz="2400" i="1" dirty="0" smtClean="0">
                <a:latin typeface="Georgia" pitchFamily="18" charset="0"/>
              </a:rPr>
              <a:t>(math</a:t>
            </a:r>
            <a:r>
              <a:rPr lang="en-US" sz="2400" dirty="0" smtClean="0">
                <a:latin typeface="Georgia" pitchFamily="18" charset="0"/>
              </a:rPr>
              <a:t>)</a:t>
            </a:r>
            <a:endParaRPr lang="en-US" sz="2400" dirty="0">
              <a:latin typeface="Georgia" pitchFamily="18" charset="0"/>
            </a:endParaRPr>
          </a:p>
        </p:txBody>
      </p:sp>
    </p:spTree>
  </p:cSld>
  <p:clrMapOvr>
    <a:masterClrMapping/>
  </p:clrMapOvr>
  <p:transition spd="med">
    <p:split dir="in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Flowchart: Alternate Process 4"/>
          <p:cNvSpPr/>
          <p:nvPr/>
        </p:nvSpPr>
        <p:spPr>
          <a:xfrm>
            <a:off x="685800" y="381000"/>
            <a:ext cx="8077200" cy="1295400"/>
          </a:xfrm>
          <a:prstGeom prst="flowChartAlternateProcess">
            <a:avLst/>
          </a:prstGeom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90600" y="685800"/>
            <a:ext cx="7543800" cy="646331"/>
          </a:xfrm>
          <a:prstGeom prst="rect">
            <a:avLst/>
          </a:prstGeom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b="1" i="1" dirty="0" smtClean="0">
                <a:solidFill>
                  <a:schemeClr val="bg1"/>
                </a:solidFill>
                <a:latin typeface="Georgia" pitchFamily="18" charset="0"/>
              </a:rPr>
              <a:t>WORD PROCESSOR(WRITER</a:t>
            </a:r>
            <a:r>
              <a:rPr lang="en-US" sz="3200" b="1" i="1" dirty="0" smtClean="0">
                <a:solidFill>
                  <a:schemeClr val="bg1"/>
                </a:solidFill>
                <a:latin typeface="Georgia" pitchFamily="18" charset="0"/>
              </a:rPr>
              <a:t>)</a:t>
            </a:r>
            <a:endParaRPr lang="en-US" sz="3200" b="1" i="1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2000" y="1981200"/>
            <a:ext cx="4953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i="1" dirty="0" smtClean="0">
                <a:latin typeface="Georgia" pitchFamily="18" charset="0"/>
              </a:rPr>
              <a:t>Writer is a word processor that is similar to Microsoft word or word perfect.</a:t>
            </a:r>
          </a:p>
          <a:p>
            <a:pPr>
              <a:buFont typeface="Arial" pitchFamily="34" charset="0"/>
              <a:buChar char="•"/>
            </a:pPr>
            <a:r>
              <a:rPr lang="en-US" sz="3200" i="1" dirty="0" smtClean="0">
                <a:latin typeface="Georgia" pitchFamily="18" charset="0"/>
              </a:rPr>
              <a:t>It is a features rich tool for creating letters, books, reports, newsletters and other documents.</a:t>
            </a:r>
            <a:endParaRPr lang="en-US" sz="3200" i="1" dirty="0">
              <a:latin typeface="Georgia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67400" y="2514600"/>
            <a:ext cx="2590800" cy="29718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lus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ounded Rectangle 2"/>
          <p:cNvSpPr/>
          <p:nvPr/>
        </p:nvSpPr>
        <p:spPr>
          <a:xfrm>
            <a:off x="762000" y="685800"/>
            <a:ext cx="7620000" cy="11430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 i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2133600"/>
            <a:ext cx="4495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i="1" dirty="0" smtClean="0">
                <a:latin typeface="Georgia" pitchFamily="18" charset="0"/>
              </a:rPr>
              <a:t>Calc is a spreadsheet program similar to Microsoft Excel.</a:t>
            </a:r>
          </a:p>
          <a:p>
            <a:pPr>
              <a:buFont typeface="Arial" pitchFamily="34" charset="0"/>
              <a:buChar char="•"/>
            </a:pPr>
            <a:r>
              <a:rPr lang="en-US" sz="3200" i="1" dirty="0" smtClean="0">
                <a:latin typeface="Georgia" pitchFamily="18" charset="0"/>
              </a:rPr>
              <a:t>It is advanced analysis, charting, and decision making features. </a:t>
            </a:r>
            <a:endParaRPr lang="en-US" sz="3200" i="1" dirty="0">
              <a:latin typeface="Georgia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5000" y="2209800"/>
            <a:ext cx="2590800" cy="29718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43000" y="914400"/>
            <a:ext cx="6934200" cy="646331"/>
          </a:xfrm>
          <a:prstGeom prst="rect">
            <a:avLst/>
          </a:prstGeom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sz="3600" b="1" i="1" dirty="0" smtClean="0">
                <a:solidFill>
                  <a:schemeClr val="bg1"/>
                </a:solidFill>
                <a:latin typeface="Georgia" pitchFamily="18" charset="0"/>
              </a:rPr>
              <a:t>SPREADSHEET (CALC)</a:t>
            </a:r>
            <a:endParaRPr lang="en-US" sz="3600" b="1" i="1" dirty="0">
              <a:solidFill>
                <a:schemeClr val="bg1"/>
              </a:solidFill>
              <a:latin typeface="Georgia" pitchFamily="18" charset="0"/>
            </a:endParaRPr>
          </a:p>
        </p:txBody>
      </p:sp>
    </p:spTree>
  </p:cSld>
  <p:clrMapOvr>
    <a:masterClrMapping/>
  </p:clrMapOvr>
  <p:transition spd="med">
    <p:diamond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533400"/>
            <a:ext cx="7772400" cy="1066800"/>
          </a:xfrm>
          <a:prstGeom prst="round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90600" y="762000"/>
            <a:ext cx="7010400" cy="646331"/>
          </a:xfrm>
          <a:prstGeom prst="rect">
            <a:avLst/>
          </a:prstGeom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3600" b="1" i="1" dirty="0" smtClean="0">
                <a:solidFill>
                  <a:schemeClr val="bg1"/>
                </a:solidFill>
                <a:latin typeface="Georgia" pitchFamily="18" charset="0"/>
              </a:rPr>
              <a:t>SLIDESHOW (IMPRESS)</a:t>
            </a:r>
            <a:endParaRPr lang="en-US" sz="3600" b="1" i="1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1752600"/>
            <a:ext cx="4953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i="1" dirty="0" smtClean="0">
                <a:latin typeface="Georgia" pitchFamily="18" charset="0"/>
              </a:rPr>
              <a:t>Impress provide all the common multimedia presentation tools, such as special effects, animation, and drawing tools.</a:t>
            </a:r>
          </a:p>
          <a:p>
            <a:pPr>
              <a:buFont typeface="Arial" pitchFamily="34" charset="0"/>
              <a:buChar char="•"/>
            </a:pPr>
            <a:r>
              <a:rPr lang="en-US" sz="3200" i="1" dirty="0" smtClean="0">
                <a:latin typeface="Georgia" pitchFamily="18" charset="0"/>
              </a:rPr>
              <a:t>It is compatible with Microsoft's PowerPoint file format.</a:t>
            </a:r>
            <a:endParaRPr lang="en-US" sz="3200" i="1" dirty="0">
              <a:latin typeface="Georgia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67400" y="2209800"/>
            <a:ext cx="2514600" cy="29718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strips dir="r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ounded Rectangle 3"/>
          <p:cNvSpPr/>
          <p:nvPr/>
        </p:nvSpPr>
        <p:spPr>
          <a:xfrm>
            <a:off x="762000" y="762000"/>
            <a:ext cx="7620000" cy="10668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6800" y="990600"/>
            <a:ext cx="6934200" cy="646331"/>
          </a:xfrm>
          <a:prstGeom prst="rect">
            <a:avLst/>
          </a:prstGeom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3600" b="1" i="1" dirty="0" smtClean="0">
                <a:solidFill>
                  <a:schemeClr val="bg1"/>
                </a:solidFill>
                <a:latin typeface="Georgia" pitchFamily="18" charset="0"/>
              </a:rPr>
              <a:t>DRAWING  (DRAW)</a:t>
            </a:r>
            <a:endParaRPr lang="en-US" sz="3600" b="1" i="1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0600" y="2133600"/>
            <a:ext cx="4419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 smtClean="0">
                <a:latin typeface="Georgia" pitchFamily="18" charset="0"/>
              </a:rPr>
              <a:t>Draw is a vector drawing tool such as simple diagram or flowchart to 3d artwork. </a:t>
            </a:r>
            <a:endParaRPr lang="en-US" sz="3200" i="1" dirty="0">
              <a:latin typeface="Georgia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19800" y="2209800"/>
            <a:ext cx="2133600" cy="2743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 dir="l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ounded Rectangle 2"/>
          <p:cNvSpPr/>
          <p:nvPr/>
        </p:nvSpPr>
        <p:spPr>
          <a:xfrm>
            <a:off x="685800" y="533400"/>
            <a:ext cx="7772400" cy="1143000"/>
          </a:xfrm>
          <a:prstGeom prst="round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66800" y="762000"/>
            <a:ext cx="7010400" cy="646331"/>
          </a:xfrm>
          <a:prstGeom prst="rect">
            <a:avLst/>
          </a:prstGeom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3600" i="1" dirty="0" smtClean="0">
                <a:solidFill>
                  <a:schemeClr val="bg1"/>
                </a:solidFill>
                <a:latin typeface="Georgia" pitchFamily="18" charset="0"/>
              </a:rPr>
              <a:t>DATABASE(BASE)</a:t>
            </a:r>
            <a:endParaRPr lang="en-US" sz="3600" i="1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2209800"/>
            <a:ext cx="4953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i="1" dirty="0" smtClean="0">
                <a:latin typeface="Georgia" pitchFamily="18" charset="0"/>
              </a:rPr>
              <a:t>Base provides tools for day-today database work within a simple interface.</a:t>
            </a:r>
          </a:p>
          <a:p>
            <a:pPr>
              <a:buFont typeface="Arial" pitchFamily="34" charset="0"/>
              <a:buChar char="•"/>
            </a:pPr>
            <a:r>
              <a:rPr lang="en-US" sz="3200" i="1" dirty="0" smtClean="0">
                <a:latin typeface="Georgia" pitchFamily="18" charset="0"/>
              </a:rPr>
              <a:t>It can create and edit forms, reports, queries, table, and relational database.</a:t>
            </a:r>
            <a:endParaRPr lang="en-US" sz="3200" i="1" dirty="0">
              <a:latin typeface="Georgia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0" y="2438400"/>
            <a:ext cx="2286000" cy="28956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 dir="r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ounded Rectangle 3"/>
          <p:cNvSpPr/>
          <p:nvPr/>
        </p:nvSpPr>
        <p:spPr>
          <a:xfrm>
            <a:off x="609600" y="609600"/>
            <a:ext cx="7772400" cy="1066800"/>
          </a:xfrm>
          <a:prstGeom prst="round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762000"/>
            <a:ext cx="7162800" cy="646331"/>
          </a:xfrm>
          <a:prstGeom prst="rect">
            <a:avLst/>
          </a:prstGeom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3600" b="1" i="1" dirty="0" smtClean="0">
                <a:solidFill>
                  <a:schemeClr val="bg1"/>
                </a:solidFill>
                <a:latin typeface="Georgia" pitchFamily="18" charset="0"/>
              </a:rPr>
              <a:t>MATH FORMULA(MATH)</a:t>
            </a:r>
            <a:endParaRPr lang="en-US" sz="3600" b="1" i="1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2209800"/>
            <a:ext cx="4495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i="1" dirty="0" smtClean="0">
                <a:latin typeface="Georgia" pitchFamily="18" charset="0"/>
              </a:rPr>
              <a:t>Math is libreoffice’s formula or equation editor.</a:t>
            </a:r>
          </a:p>
          <a:p>
            <a:pPr>
              <a:buFont typeface="Arial" pitchFamily="34" charset="0"/>
              <a:buChar char="•"/>
            </a:pPr>
            <a:r>
              <a:rPr lang="en-US" sz="3200" i="1" dirty="0" smtClean="0">
                <a:latin typeface="Georgia" pitchFamily="18" charset="0"/>
              </a:rPr>
              <a:t>Math can also work as a standalone tools.</a:t>
            </a:r>
            <a:endParaRPr lang="en-US" sz="3200" i="1" dirty="0">
              <a:latin typeface="Georgia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0" y="2362200"/>
            <a:ext cx="2209800" cy="28194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>
    <p:pull dir="l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ounded Rectangle 2"/>
          <p:cNvSpPr/>
          <p:nvPr/>
        </p:nvSpPr>
        <p:spPr>
          <a:xfrm>
            <a:off x="609600" y="533400"/>
            <a:ext cx="7924800" cy="1143000"/>
          </a:xfrm>
          <a:prstGeom prst="round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38200" y="762000"/>
            <a:ext cx="7162800" cy="646331"/>
          </a:xfrm>
          <a:prstGeom prst="rect">
            <a:avLst/>
          </a:prstGeom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3600" b="1" i="1" dirty="0" smtClean="0">
                <a:solidFill>
                  <a:schemeClr val="bg1"/>
                </a:solidFill>
                <a:latin typeface="Georgia" pitchFamily="18" charset="0"/>
              </a:rPr>
              <a:t> ADVANTAGE :-</a:t>
            </a:r>
            <a:endParaRPr lang="en-US" sz="3600" b="1" i="1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752600"/>
            <a:ext cx="7239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i="1" dirty="0" smtClean="0">
                <a:latin typeface="Georgia" pitchFamily="18" charset="0"/>
              </a:rPr>
              <a:t>No licensing fees.</a:t>
            </a:r>
          </a:p>
          <a:p>
            <a:pPr>
              <a:buFont typeface="Arial" pitchFamily="34" charset="0"/>
              <a:buChar char="•"/>
            </a:pPr>
            <a:r>
              <a:rPr lang="en-US" sz="3200" i="1" dirty="0" smtClean="0">
                <a:latin typeface="Georgia" pitchFamily="18" charset="0"/>
              </a:rPr>
              <a:t>It is free for anyone to use and distribute at no cost.</a:t>
            </a:r>
          </a:p>
          <a:p>
            <a:pPr>
              <a:buFont typeface="Arial" pitchFamily="34" charset="0"/>
              <a:buChar char="•"/>
            </a:pPr>
            <a:r>
              <a:rPr lang="en-US" sz="3200" i="1" dirty="0" smtClean="0">
                <a:latin typeface="Georgia" pitchFamily="18" charset="0"/>
              </a:rPr>
              <a:t>It is run on several hardware architectures and under multiple operating system.</a:t>
            </a:r>
          </a:p>
          <a:p>
            <a:pPr>
              <a:buFont typeface="Arial" pitchFamily="34" charset="0"/>
              <a:buChar char="•"/>
            </a:pPr>
            <a:r>
              <a:rPr lang="en-US" sz="3200" i="1" dirty="0" smtClean="0">
                <a:latin typeface="Georgia" pitchFamily="18" charset="0"/>
              </a:rPr>
              <a:t>All component have a similar “look and feel”, making them to easy to use and master. </a:t>
            </a:r>
            <a:endParaRPr lang="en-US" sz="3200" i="1" dirty="0">
              <a:latin typeface="Georgia" pitchFamily="18" charset="0"/>
            </a:endParaRPr>
          </a:p>
        </p:txBody>
      </p:sp>
    </p:spTree>
  </p:cSld>
  <p:clrMapOvr>
    <a:masterClrMapping/>
  </p:clrMapOvr>
  <p:transition spd="med">
    <p:strips dir="l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ounded Rectangle 2"/>
          <p:cNvSpPr/>
          <p:nvPr/>
        </p:nvSpPr>
        <p:spPr>
          <a:xfrm>
            <a:off x="762000" y="685800"/>
            <a:ext cx="7772400" cy="1066800"/>
          </a:xfrm>
          <a:prstGeom prst="round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6934200" cy="646331"/>
          </a:xfrm>
          <a:prstGeom prst="rect">
            <a:avLst/>
          </a:prstGeom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3600" b="1" i="1" dirty="0" smtClean="0">
                <a:solidFill>
                  <a:schemeClr val="bg1"/>
                </a:solidFill>
                <a:latin typeface="Georgia" pitchFamily="18" charset="0"/>
              </a:rPr>
              <a:t>REFERENCE </a:t>
            </a:r>
            <a:endParaRPr lang="en-US" sz="3600" b="1" i="1" dirty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6800" y="2514600"/>
            <a:ext cx="7391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i="1" dirty="0" smtClean="0">
                <a:latin typeface="Georgia" pitchFamily="18" charset="0"/>
              </a:rPr>
              <a:t>“Libreoffice”.wikipedia.wikipedia foundation,08may2012.web. 07 august2012.</a:t>
            </a:r>
          </a:p>
          <a:p>
            <a:pPr>
              <a:buFont typeface="Arial" pitchFamily="34" charset="0"/>
              <a:buChar char="•"/>
            </a:pPr>
            <a:r>
              <a:rPr lang="en-US" sz="2400" i="1" dirty="0" smtClean="0">
                <a:latin typeface="Georgia" pitchFamily="18" charset="0"/>
              </a:rPr>
              <a:t>&lt;http://</a:t>
            </a:r>
            <a:r>
              <a:rPr lang="en-US" sz="2400" i="1" dirty="0" smtClean="0">
                <a:latin typeface="Georgia" pitchFamily="18" charset="0"/>
              </a:rPr>
              <a:t>enwikipedia.org/wiki/libreoffice&gt;.</a:t>
            </a:r>
            <a:endParaRPr lang="en-US" sz="2400" i="1" dirty="0" smtClean="0">
              <a:latin typeface="Georg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i="1" dirty="0" smtClean="0">
                <a:latin typeface="Georgia" pitchFamily="18" charset="0"/>
              </a:rPr>
              <a:t>&lt;http://www.slideshare.net/osscube/introducing -libreoffice.</a:t>
            </a:r>
            <a:endParaRPr lang="en-US" sz="2400" i="1" dirty="0">
              <a:latin typeface="Georgia" pitchFamily="18" charset="0"/>
            </a:endParaRPr>
          </a:p>
        </p:txBody>
      </p:sp>
    </p:spTree>
  </p:cSld>
  <p:clrMapOvr>
    <a:masterClrMapping/>
  </p:clrMapOvr>
  <p:transition spd="med">
    <p:cover dir="l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thank you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09600"/>
            <a:ext cx="8001000" cy="5562600"/>
          </a:xfrm>
          <a:prstGeom prst="rect">
            <a:avLst/>
          </a:prstGeom>
        </p:spPr>
      </p:pic>
    </p:spTree>
  </p:cSld>
  <p:clrMapOvr>
    <a:masterClrMapping/>
  </p:clrMapOvr>
  <p:transition spd="med">
    <p:strips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Presentation1</Template>
  <TotalTime>813</TotalTime>
  <Words>365</Words>
  <Application>Microsoft Office PowerPoint</Application>
  <PresentationFormat>On-screen Show (4:3)</PresentationFormat>
  <Paragraphs>56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pc</dc:creator>
  <cp:lastModifiedBy>HP</cp:lastModifiedBy>
  <cp:revision>35</cp:revision>
  <dcterms:created xsi:type="dcterms:W3CDTF">2006-08-16T00:00:00Z</dcterms:created>
  <dcterms:modified xsi:type="dcterms:W3CDTF">2020-05-13T07:03:04Z</dcterms:modified>
</cp:coreProperties>
</file>